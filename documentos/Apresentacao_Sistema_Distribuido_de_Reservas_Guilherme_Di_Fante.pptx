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Contador final</c:v>
          </c:tx>
          <c:spPr>
            <a:solidFill>
              <a:srgbClr val="1F4E78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>
                    <a:latin typeface="Bitstream Charter"/>
                    <a:ea typeface="Bitstream Charter"/>
                    <a:cs typeface="Bitstream Charter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Sem sincronização</c:v>
                </c:pt>
                <c:pt idx="1">
                  <c:v>Com sincronização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10</c:v>
                </c:pt>
                <c:pt idx="1">
                  <c:v>30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D880-47D3-910F-ADC63164969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  <a:endParaRPr lang="pt-B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Apresentar o tema e explicar que a demonstração reúne concorrência, comunicação em rede e tolerância a falhas. Tempo sugerido: 40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Explicar que o objetivo principal não era apenas reservar assentos. O sistema também precisava produzir a condição de corrida, corrigi-la e continuar funcionando após a queda de uma réplica. Tempo: 1 minuto.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Mostrar o caminho das solicitações. A réplica A recebe os clientes e transmite reservas ou cancelamentos para B. Cada cliente conectado é atendido por uma thread. Tempo: 1 minuto.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Explicar que o usuário não precisa digitar as barras verticais. O cliente converte comandos simples para o protocolo interno. O TCP carrega operações importantes e o UDP faz somente a consulta rápida de status. Tempo: 1 minuto.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Este é o principal resultado. Sem sincronização, as 30 requisições receberam OK e ocuparam os assentos, mas o contador terminou em 10. Com synchronized, o contador terminou em 30. O tempo maior ocorreu porque as threads aguardaram acesso exclusivo. Tempo: 1 minuto e 30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Usar o exemplo do contador para explicar a corrida. Sem proteção, duas threads leem 9 e ambas gravam 10. Com synchronized, somente uma thread executa a região crítica por vez. Tempo: 1 minuto.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Relatar o teste real: o assento 40 foi replicado, A caiu, o cliente reconectou em B e reservou o assento 41. O estado anterior permaneceu. Também foi testada a desconexão de um cliente sem derrubar o servidor. Tempo: 1 minuto.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635A8553-84CA-46A8-BB0A-89ECBC3A7EB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28C28"/>
          </a:solidFill>
          <a:ln w="0">
            <a:noFill/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C812E68-AB7C-4451-BBA7-F1064DD295EC}"/>
              </a:ext>
            </a:extLst>
          </p:cNvPr>
          <p:cNvSpPr>
            <a:spLocks noGrp="1"/>
          </p:cNvSpPr>
          <p:nvPr/>
        </p:nvSpPr>
        <p:spPr>
          <a:xfrm>
            <a:off x="781050" y="1381125"/>
            <a:ext cx="8096250" cy="1714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Sistema Distribuído</a:t>
            </a:r>
          </a:p>
          <a:p>
            <a:pPr algn="l">
              <a:defRPr sz="36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de Reservas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97D3EE7-6088-46F6-A2BD-D78B57843C66}"/>
              </a:ext>
            </a:extLst>
          </p:cNvPr>
          <p:cNvSpPr>
            <a:spLocks noGrp="1"/>
          </p:cNvSpPr>
          <p:nvPr/>
        </p:nvSpPr>
        <p:spPr>
          <a:xfrm>
            <a:off x="819150" y="3238500"/>
            <a:ext cx="8572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00" b="0">
                <a:solidFill>
                  <a:srgbClr val="D9E8F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D9E8F2"/>
                </a:solidFill>
                <a:latin typeface="Bitstream Charter"/>
                <a:ea typeface="Bitstream Charter"/>
                <a:cs typeface="Bitstream Charter"/>
              </a:rPr>
              <a:t>Concorrência, sincronização e replicação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D9A7C72-F797-4991-B955-9EA4C0654F16}"/>
              </a:ext>
            </a:extLst>
          </p:cNvPr>
          <p:cNvSpPr>
            <a:spLocks noGrp="1"/>
          </p:cNvSpPr>
          <p:nvPr/>
        </p:nvSpPr>
        <p:spPr>
          <a:xfrm>
            <a:off x="819150" y="4000500"/>
            <a:ext cx="2476500" cy="47625"/>
          </a:xfrm>
          <a:prstGeom prst="rect">
            <a:avLst/>
          </a:prstGeom>
          <a:solidFill>
            <a:srgbClr val="F28C28"/>
          </a:solidFill>
          <a:ln w="0">
            <a:noFill/>
          </a:ln>
        </p:spPr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C0A3D62-7742-4149-BD9E-CB293503E8B3}"/>
              </a:ext>
            </a:extLst>
          </p:cNvPr>
          <p:cNvSpPr>
            <a:spLocks noGrp="1"/>
          </p:cNvSpPr>
          <p:nvPr/>
        </p:nvSpPr>
        <p:spPr>
          <a:xfrm>
            <a:off x="819150" y="4476750"/>
            <a:ext cx="4762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Guilherme Di Fante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8CA937A-A2F5-4CF6-9208-B91B23E5B7E2}"/>
              </a:ext>
            </a:extLst>
          </p:cNvPr>
          <p:cNvSpPr>
            <a:spLocks noGrp="1"/>
          </p:cNvSpPr>
          <p:nvPr/>
        </p:nvSpPr>
        <p:spPr>
          <a:xfrm>
            <a:off x="819150" y="4953000"/>
            <a:ext cx="5334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D9E8F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D9E8F2"/>
                </a:solidFill>
                <a:latin typeface="Bitstream Charter"/>
                <a:ea typeface="Bitstream Charter"/>
                <a:cs typeface="Bitstream Charter"/>
              </a:rPr>
              <a:t>Professor Timoteo Monteiro da Silva</a:t>
            </a:r>
          </a:p>
          <a:p>
            <a:pPr algn="l">
              <a:defRPr sz="1275" b="0">
                <a:solidFill>
                  <a:srgbClr val="D9E8F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D9E8F2"/>
                </a:solidFill>
                <a:latin typeface="Bitstream Charter"/>
                <a:ea typeface="Bitstream Charter"/>
                <a:cs typeface="Bitstream Charter"/>
              </a:rPr>
              <a:t>IFSC Câmpus Gaspar · 2026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C7D8B674-3766-4F46-8BFE-785C78365E38}"/>
              </a:ext>
            </a:extLst>
          </p:cNvPr>
          <p:cNvSpPr>
            <a:spLocks noGrp="1"/>
          </p:cNvSpPr>
          <p:nvPr/>
        </p:nvSpPr>
        <p:spPr>
          <a:xfrm>
            <a:off x="9620250" y="4953000"/>
            <a:ext cx="1524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100" b="1">
                <a:solidFill>
                  <a:srgbClr val="F28C2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F28C28"/>
                </a:solidFill>
                <a:latin typeface="Bitstream Charter"/>
                <a:ea typeface="Bitstream Charter"/>
                <a:cs typeface="Bitstream Charter"/>
              </a:rPr>
              <a:t>JAVA</a:t>
            </a:r>
          </a:p>
        </p:txBody>
      </p:sp>
    </p:spTree>
    <p:extLst>
      <p:ext uri="{BB962C8B-B14F-4D97-AF65-F5344CB8AC3E}">
        <p14:creationId xmlns:p14="http://schemas.microsoft.com/office/powerpoint/2010/main" val="627049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>
            <a:extLst>
              <a:ext uri="{FF2B5EF4-FFF2-40B4-BE49-F238E27FC236}">
                <a16:creationId xmlns:a16="http://schemas.microsoft.com/office/drawing/2014/main" id="{2A2D1F9D-7AEF-4E1A-8CAE-E3F33B292C0E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2870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329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3293D"/>
                </a:solidFill>
                <a:latin typeface="Bitstream Charter"/>
                <a:ea typeface="Bitstream Charter"/>
                <a:cs typeface="Bitstream Charter"/>
              </a:rPr>
              <a:t>Objetivo do projeto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7BFE50A-7EEC-4930-A900-E87270DC4DC0}"/>
              </a:ext>
            </a:extLst>
          </p:cNvPr>
          <p:cNvSpPr>
            <a:spLocks noGrp="1"/>
          </p:cNvSpPr>
          <p:nvPr/>
        </p:nvSpPr>
        <p:spPr>
          <a:xfrm>
            <a:off x="11096625" y="457200"/>
            <a:ext cx="4762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350" b="1">
                <a:solidFill>
                  <a:srgbClr val="F28C2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28C28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EBC0860-01EB-48BC-AA67-187C226391BA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0953750" cy="38100"/>
          </a:xfrm>
          <a:prstGeom prst="rect">
            <a:avLst/>
          </a:prstGeom>
          <a:solidFill>
            <a:srgbClr val="F28C28"/>
          </a:solidFill>
          <a:ln w="0">
            <a:noFill/>
          </a:ln>
        </p:spPr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A0AEDD9-1B48-4521-8EB9-78A6E53A5B73}"/>
              </a:ext>
            </a:extLst>
          </p:cNvPr>
          <p:cNvSpPr>
            <a:spLocks noGrp="1"/>
          </p:cNvSpPr>
          <p:nvPr/>
        </p:nvSpPr>
        <p:spPr>
          <a:xfrm>
            <a:off x="666750" y="1476375"/>
            <a:ext cx="3238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1F4E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F4E78"/>
                </a:solidFill>
                <a:latin typeface="Bitstream Charter"/>
                <a:ea typeface="Bitstream Charter"/>
                <a:cs typeface="Bitstream Charter"/>
              </a:rPr>
              <a:t>Demonstrar o problema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1EA3BAF-AFBD-4A97-9111-D13DDB86EA65}"/>
              </a:ext>
            </a:extLst>
          </p:cNvPr>
          <p:cNvSpPr>
            <a:spLocks noGrp="1"/>
          </p:cNvSpPr>
          <p:nvPr/>
        </p:nvSpPr>
        <p:spPr>
          <a:xfrm>
            <a:off x="666750" y="1952625"/>
            <a:ext cx="4000500" cy="1333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1822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8222D"/>
                </a:solidFill>
                <a:latin typeface="Bitstream Charter"/>
                <a:ea typeface="Bitstream Charter"/>
                <a:cs typeface="Bitstream Charter"/>
              </a:rPr>
              <a:t>Três clientes acessam o mesmo estado e podem perder atualizações quando não existe proteção da região crítica.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8B58043-7B7D-40B9-9987-D22589B3B430}"/>
              </a:ext>
            </a:extLst>
          </p:cNvPr>
          <p:cNvSpPr>
            <a:spLocks noGrp="1"/>
          </p:cNvSpPr>
          <p:nvPr/>
        </p:nvSpPr>
        <p:spPr>
          <a:xfrm>
            <a:off x="666750" y="3714750"/>
            <a:ext cx="3238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1F4E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F4E78"/>
                </a:solidFill>
                <a:latin typeface="Bitstream Charter"/>
                <a:ea typeface="Bitstream Charter"/>
                <a:cs typeface="Bitstream Charter"/>
              </a:rPr>
              <a:t>Corrigir e comparar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03FFAF7-8956-4607-8271-DC3EF61DD657}"/>
              </a:ext>
            </a:extLst>
          </p:cNvPr>
          <p:cNvSpPr>
            <a:spLocks noGrp="1"/>
          </p:cNvSpPr>
          <p:nvPr/>
        </p:nvSpPr>
        <p:spPr>
          <a:xfrm>
            <a:off x="666750" y="4191000"/>
            <a:ext cx="4000500" cy="1238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1822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8222D"/>
                </a:solidFill>
                <a:latin typeface="Bitstream Charter"/>
                <a:ea typeface="Bitstream Charter"/>
                <a:cs typeface="Bitstream Charter"/>
              </a:rPr>
              <a:t>O mesmo teste é repetido com synchronized para verificar a diferença numérica e o custo de execução.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D1727F0D-BFC3-4D7D-9373-D6DADFDA1356}"/>
              </a:ext>
            </a:extLst>
          </p:cNvPr>
          <p:cNvSpPr>
            <a:spLocks noGrp="1"/>
          </p:cNvSpPr>
          <p:nvPr/>
        </p:nvSpPr>
        <p:spPr>
          <a:xfrm>
            <a:off x="5334000" y="1524000"/>
            <a:ext cx="5715000" cy="3714750"/>
          </a:xfrm>
          <a:prstGeom prst="roundRect">
            <a:avLst>
              <a:gd name="adj" fmla="val 2051"/>
            </a:avLst>
          </a:prstGeom>
          <a:solidFill>
            <a:srgbClr val="EAF2F8"/>
          </a:solidFill>
          <a:ln w="9525">
            <a:solidFill>
              <a:srgbClr val="B8CEDD"/>
            </a:solidFill>
          </a:ln>
        </p:spPr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708CD44-F073-4363-AAAA-4E930A9D514D}"/>
              </a:ext>
            </a:extLst>
          </p:cNvPr>
          <p:cNvSpPr>
            <a:spLocks noGrp="1"/>
          </p:cNvSpPr>
          <p:nvPr/>
        </p:nvSpPr>
        <p:spPr>
          <a:xfrm>
            <a:off x="5810250" y="1857375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329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13293D"/>
                </a:solidFill>
                <a:latin typeface="Bitstream Charter"/>
                <a:ea typeface="Bitstream Charter"/>
                <a:cs typeface="Bitstream Charter"/>
              </a:rPr>
              <a:t>O sistema precisava atender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E0F175B2-B7CC-4890-B718-C9C70F5684E8}"/>
              </a:ext>
            </a:extLst>
          </p:cNvPr>
          <p:cNvSpPr>
            <a:spLocks noGrp="1"/>
          </p:cNvSpPr>
          <p:nvPr/>
        </p:nvSpPr>
        <p:spPr>
          <a:xfrm>
            <a:off x="5905500" y="2428875"/>
            <a:ext cx="4476750" cy="2333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1822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8222D"/>
                </a:solidFill>
                <a:latin typeface="Bitstream Charter"/>
                <a:ea typeface="Bitstream Charter"/>
                <a:cs typeface="Bitstream Charter"/>
              </a:rPr>
              <a:t>• 50 assentos</a:t>
            </a:r>
          </a:p>
          <a:p>
            <a:pPr algn="l">
              <a:defRPr sz="1650" b="0">
                <a:solidFill>
                  <a:srgbClr val="1822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8222D"/>
                </a:solidFill>
                <a:latin typeface="Bitstream Charter"/>
                <a:ea typeface="Bitstream Charter"/>
                <a:cs typeface="Bitstream Charter"/>
              </a:rPr>
              <a:t>• 3 clientes simultâneos</a:t>
            </a:r>
          </a:p>
          <a:p>
            <a:pPr algn="l">
              <a:defRPr sz="1650" b="0">
                <a:solidFill>
                  <a:srgbClr val="1822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8222D"/>
                </a:solidFill>
                <a:latin typeface="Bitstream Charter"/>
                <a:ea typeface="Bitstream Charter"/>
                <a:cs typeface="Bitstream Charter"/>
              </a:rPr>
              <a:t>• TCP nas operações principais</a:t>
            </a:r>
          </a:p>
          <a:p>
            <a:pPr algn="l">
              <a:defRPr sz="1650" b="0">
                <a:solidFill>
                  <a:srgbClr val="1822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8222D"/>
                </a:solidFill>
                <a:latin typeface="Bitstream Charter"/>
                <a:ea typeface="Bitstream Charter"/>
                <a:cs typeface="Bitstream Charter"/>
              </a:rPr>
              <a:t>• UDP na consulta de status</a:t>
            </a:r>
          </a:p>
          <a:p>
            <a:pPr algn="l">
              <a:defRPr sz="1650" b="0">
                <a:solidFill>
                  <a:srgbClr val="1822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8222D"/>
                </a:solidFill>
                <a:latin typeface="Bitstream Charter"/>
                <a:ea typeface="Bitstream Charter"/>
                <a:cs typeface="Bitstream Charter"/>
              </a:rPr>
              <a:t>• 2 réplicas com tolerância a falhas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DC38294-E11A-4EA4-979C-3113BC316E64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0012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788"/>
          </a:bodyPr>
          <a:lstStyle/>
          <a:p>
            <a:pPr algn="l">
              <a:defRPr sz="825" b="0">
                <a:solidFill>
                  <a:srgbClr val="5C67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5C6770"/>
                </a:solidFill>
                <a:latin typeface="Bitstream Charter"/>
                <a:ea typeface="Bitstream Charter"/>
                <a:cs typeface="Bitstream Charter"/>
              </a:rPr>
              <a:t>Guilherme Di Fante · Programação Concorrente e Distribuída · IFSC Gaspar</a:t>
            </a:r>
          </a:p>
        </p:txBody>
      </p:sp>
    </p:spTree>
    <p:extLst>
      <p:ext uri="{BB962C8B-B14F-4D97-AF65-F5344CB8AC3E}">
        <p14:creationId xmlns:p14="http://schemas.microsoft.com/office/powerpoint/2010/main" val="1927563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ângulo 22">
            <a:extLst>
              <a:ext uri="{FF2B5EF4-FFF2-40B4-BE49-F238E27FC236}">
                <a16:creationId xmlns:a16="http://schemas.microsoft.com/office/drawing/2014/main" id="{D8A04EA6-134D-4B37-93CB-EFAE05ADDE1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2870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329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3293D"/>
                </a:solidFill>
                <a:latin typeface="Bitstream Charter"/>
                <a:ea typeface="Bitstream Charter"/>
                <a:cs typeface="Bitstream Charter"/>
              </a:rPr>
              <a:t>Arquitetura do sistema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3235414F-1241-4709-9A5A-ADCE82B81050}"/>
              </a:ext>
            </a:extLst>
          </p:cNvPr>
          <p:cNvSpPr>
            <a:spLocks noGrp="1"/>
          </p:cNvSpPr>
          <p:nvPr/>
        </p:nvSpPr>
        <p:spPr>
          <a:xfrm>
            <a:off x="11096625" y="457200"/>
            <a:ext cx="4762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350" b="1">
                <a:solidFill>
                  <a:srgbClr val="F28C2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28C28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4F0F216-41D7-4952-8EB4-955094E4F1C3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0953750" cy="38100"/>
          </a:xfrm>
          <a:prstGeom prst="rect">
            <a:avLst/>
          </a:prstGeom>
          <a:solidFill>
            <a:srgbClr val="F28C28"/>
          </a:solidFill>
          <a:ln w="0">
            <a:noFill/>
          </a:ln>
        </p:spPr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33FC346-9A8C-4543-B49E-29C4EB5EAD44}"/>
              </a:ext>
            </a:extLst>
          </p:cNvPr>
          <p:cNvSpPr>
            <a:spLocks noGrp="1"/>
          </p:cNvSpPr>
          <p:nvPr/>
        </p:nvSpPr>
        <p:spPr>
          <a:xfrm>
            <a:off x="762000" y="1524000"/>
            <a:ext cx="23812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212"/>
          </a:bodyPr>
          <a:lstStyle/>
          <a:p>
            <a:pPr algn="ctr">
              <a:defRPr sz="1650" b="1">
                <a:solidFill>
                  <a:srgbClr val="1F4E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1F4E78"/>
                </a:solidFill>
                <a:latin typeface="Bitstream Charter"/>
                <a:ea typeface="Bitstream Charter"/>
                <a:cs typeface="Bitstream Charter"/>
              </a:rPr>
              <a:t>Clientes TCP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42212FAE-DCA5-41A2-8B34-08D3C2841125}"/>
              </a:ext>
            </a:extLst>
          </p:cNvPr>
          <p:cNvSpPr>
            <a:spLocks noGrp="1"/>
          </p:cNvSpPr>
          <p:nvPr/>
        </p:nvSpPr>
        <p:spPr>
          <a:xfrm>
            <a:off x="904875" y="2095500"/>
            <a:ext cx="2095500" cy="647700"/>
          </a:xfrm>
          <a:prstGeom prst="roundRect">
            <a:avLst>
              <a:gd name="adj" fmla="val 11765"/>
            </a:avLst>
          </a:prstGeom>
          <a:solidFill>
            <a:srgbClr val="F4F7F9"/>
          </a:solidFill>
          <a:ln w="9525">
            <a:solidFill>
              <a:srgbClr val="9DB5C5"/>
            </a:solidFill>
          </a:ln>
        </p:spPr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1799DEB-8028-428A-9B04-BE5852C5A9D6}"/>
              </a:ext>
            </a:extLst>
          </p:cNvPr>
          <p:cNvSpPr>
            <a:spLocks noGrp="1"/>
          </p:cNvSpPr>
          <p:nvPr/>
        </p:nvSpPr>
        <p:spPr>
          <a:xfrm>
            <a:off x="1095375" y="2238375"/>
            <a:ext cx="1714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1822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18222D"/>
                </a:solidFill>
                <a:latin typeface="Bitstream Charter"/>
                <a:ea typeface="Bitstream Charter"/>
                <a:cs typeface="Bitstream Charter"/>
              </a:rPr>
              <a:t>Cliente 1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E6DDEE62-3005-491C-B3B0-14B8086DEDA9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2095500" cy="647700"/>
          </a:xfrm>
          <a:prstGeom prst="roundRect">
            <a:avLst>
              <a:gd name="adj" fmla="val 11765"/>
            </a:avLst>
          </a:prstGeom>
          <a:solidFill>
            <a:srgbClr val="F4F7F9"/>
          </a:solidFill>
          <a:ln w="9525">
            <a:solidFill>
              <a:srgbClr val="9DB5C5"/>
            </a:solidFill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905CF48-9612-49A8-B008-1259312EFC4D}"/>
              </a:ext>
            </a:extLst>
          </p:cNvPr>
          <p:cNvSpPr>
            <a:spLocks noGrp="1"/>
          </p:cNvSpPr>
          <p:nvPr/>
        </p:nvSpPr>
        <p:spPr>
          <a:xfrm>
            <a:off x="1095375" y="3238500"/>
            <a:ext cx="1714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1822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18222D"/>
                </a:solidFill>
                <a:latin typeface="Bitstream Charter"/>
                <a:ea typeface="Bitstream Charter"/>
                <a:cs typeface="Bitstream Charter"/>
              </a:rPr>
              <a:t>Cliente 2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ACDD431E-EAEA-40DB-8B5B-661B3CDB2CC8}"/>
              </a:ext>
            </a:extLst>
          </p:cNvPr>
          <p:cNvSpPr>
            <a:spLocks noGrp="1"/>
          </p:cNvSpPr>
          <p:nvPr/>
        </p:nvSpPr>
        <p:spPr>
          <a:xfrm>
            <a:off x="904875" y="4095750"/>
            <a:ext cx="2095500" cy="647700"/>
          </a:xfrm>
          <a:prstGeom prst="roundRect">
            <a:avLst>
              <a:gd name="adj" fmla="val 11765"/>
            </a:avLst>
          </a:prstGeom>
          <a:solidFill>
            <a:srgbClr val="F4F7F9"/>
          </a:solidFill>
          <a:ln w="9525">
            <a:solidFill>
              <a:srgbClr val="9DB5C5"/>
            </a:solidFill>
          </a:ln>
        </p:spPr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B4D1AB5-AC54-4301-B1BF-5E4ED4CC6746}"/>
              </a:ext>
            </a:extLst>
          </p:cNvPr>
          <p:cNvSpPr>
            <a:spLocks noGrp="1"/>
          </p:cNvSpPr>
          <p:nvPr/>
        </p:nvSpPr>
        <p:spPr>
          <a:xfrm>
            <a:off x="1095375" y="4238625"/>
            <a:ext cx="1714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1822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18222D"/>
                </a:solidFill>
                <a:latin typeface="Bitstream Charter"/>
                <a:ea typeface="Bitstream Charter"/>
                <a:cs typeface="Bitstream Charter"/>
              </a:rPr>
              <a:t>Cliente 3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805D4289-B7CA-4348-971C-507CF5C1D699}"/>
              </a:ext>
            </a:extLst>
          </p:cNvPr>
          <p:cNvSpPr>
            <a:spLocks noGrp="1"/>
          </p:cNvSpPr>
          <p:nvPr/>
        </p:nvSpPr>
        <p:spPr>
          <a:xfrm>
            <a:off x="3714750" y="2571750"/>
            <a:ext cx="1428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5C67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5C6770"/>
                </a:solidFill>
                <a:latin typeface="Bitstream Charter"/>
                <a:ea typeface="Bitstream Charter"/>
                <a:cs typeface="Bitstream Charter"/>
              </a:rPr>
              <a:t>TCP 5000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E554C5CE-C8D9-41C3-8062-7FB2FA9F0B7F}"/>
              </a:ext>
            </a:extLst>
          </p:cNvPr>
          <p:cNvSpPr>
            <a:spLocks noGrp="1"/>
          </p:cNvSpPr>
          <p:nvPr/>
        </p:nvSpPr>
        <p:spPr>
          <a:xfrm>
            <a:off x="3714750" y="2924175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5C67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5C6770"/>
                </a:solidFill>
                <a:latin typeface="Bitstream Charter"/>
                <a:ea typeface="Bitstream Charter"/>
                <a:cs typeface="Bitstream Charter"/>
              </a:rPr>
              <a:t>solicitações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5C64DEBA-50A3-4A9F-9BC4-568F325E48DB}"/>
              </a:ext>
            </a:extLst>
          </p:cNvPr>
          <p:cNvSpPr>
            <a:spLocks noGrp="1"/>
          </p:cNvSpPr>
          <p:nvPr/>
        </p:nvSpPr>
        <p:spPr>
          <a:xfrm>
            <a:off x="5429250" y="1952625"/>
            <a:ext cx="2476500" cy="1571625"/>
          </a:xfrm>
          <a:prstGeom prst="roundRect">
            <a:avLst>
              <a:gd name="adj" fmla="val 4848"/>
            </a:avLst>
          </a:prstGeom>
          <a:solidFill>
            <a:srgbClr val="1F4E78"/>
          </a:solidFill>
          <a:ln w="9525">
            <a:solidFill>
              <a:srgbClr val="1F4E78"/>
            </a:solidFill>
          </a:ln>
        </p:spPr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33AC4EA5-7C36-4F04-B0A9-2EF8F7127C5F}"/>
              </a:ext>
            </a:extLst>
          </p:cNvPr>
          <p:cNvSpPr>
            <a:spLocks noGrp="1"/>
          </p:cNvSpPr>
          <p:nvPr/>
        </p:nvSpPr>
        <p:spPr>
          <a:xfrm>
            <a:off x="5715000" y="2190750"/>
            <a:ext cx="1905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428"/>
          </a:bodyPr>
          <a:lstStyle/>
          <a:p>
            <a:pPr algn="ctr">
              <a:defRPr sz="21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Réplica A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45D26DB0-AD5D-4553-BBF9-4E4E21850888}"/>
              </a:ext>
            </a:extLst>
          </p:cNvPr>
          <p:cNvSpPr>
            <a:spLocks noGrp="1"/>
          </p:cNvSpPr>
          <p:nvPr/>
        </p:nvSpPr>
        <p:spPr>
          <a:xfrm>
            <a:off x="5715000" y="2686050"/>
            <a:ext cx="19050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PRIMÁRIA</a:t>
            </a:r>
          </a:p>
          <a:p>
            <a:pPr algn="ctr">
              <a:defRPr sz="135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TCP 5000 · UDP 6000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393F6A34-F013-4DCE-A3F9-9A17018291AD}"/>
              </a:ext>
            </a:extLst>
          </p:cNvPr>
          <p:cNvSpPr>
            <a:spLocks noGrp="1"/>
          </p:cNvSpPr>
          <p:nvPr/>
        </p:nvSpPr>
        <p:spPr>
          <a:xfrm>
            <a:off x="8143875" y="2476500"/>
            <a:ext cx="16192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28C2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28C28"/>
                </a:solidFill>
                <a:latin typeface="Bitstream Charter"/>
                <a:ea typeface="Bitstream Charter"/>
                <a:cs typeface="Bitstream Charter"/>
              </a:rPr>
              <a:t>replicação TCP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F8E70602-D226-4122-ACF5-31A7EAD37FA3}"/>
              </a:ext>
            </a:extLst>
          </p:cNvPr>
          <p:cNvSpPr>
            <a:spLocks noGrp="1"/>
          </p:cNvSpPr>
          <p:nvPr/>
        </p:nvSpPr>
        <p:spPr>
          <a:xfrm>
            <a:off x="9810750" y="1952625"/>
            <a:ext cx="1809750" cy="1571625"/>
          </a:xfrm>
          <a:prstGeom prst="roundRect">
            <a:avLst>
              <a:gd name="adj" fmla="val 4848"/>
            </a:avLst>
          </a:prstGeom>
          <a:solidFill>
            <a:srgbClr val="13293D"/>
          </a:solidFill>
          <a:ln w="9525">
            <a:solidFill>
              <a:srgbClr val="13293D"/>
            </a:solidFill>
          </a:ln>
        </p:spPr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B5707D0F-5C70-465E-875D-5FEE34EFA697}"/>
              </a:ext>
            </a:extLst>
          </p:cNvPr>
          <p:cNvSpPr>
            <a:spLocks noGrp="1"/>
          </p:cNvSpPr>
          <p:nvPr/>
        </p:nvSpPr>
        <p:spPr>
          <a:xfrm>
            <a:off x="9953625" y="2190750"/>
            <a:ext cx="1524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9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Réplica B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053F5719-A5C9-4C72-8BA9-C060894D5E62}"/>
              </a:ext>
            </a:extLst>
          </p:cNvPr>
          <p:cNvSpPr>
            <a:spLocks noGrp="1"/>
          </p:cNvSpPr>
          <p:nvPr/>
        </p:nvSpPr>
        <p:spPr>
          <a:xfrm>
            <a:off x="9982200" y="2667000"/>
            <a:ext cx="1476375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BACKUP</a:t>
            </a:r>
          </a:p>
          <a:p>
            <a:pPr algn="ctr">
              <a:defRPr sz="12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TCP 5001</a:t>
            </a:r>
          </a:p>
          <a:p>
            <a:pPr algn="ctr">
              <a:defRPr sz="12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UDP 6001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3DFAEFFD-39D4-4D78-B55A-8D14793A35F2}"/>
              </a:ext>
            </a:extLst>
          </p:cNvPr>
          <p:cNvSpPr>
            <a:spLocks noGrp="1"/>
          </p:cNvSpPr>
          <p:nvPr/>
        </p:nvSpPr>
        <p:spPr>
          <a:xfrm>
            <a:off x="5429250" y="4095750"/>
            <a:ext cx="6191250" cy="1047750"/>
          </a:xfrm>
          <a:prstGeom prst="roundRect">
            <a:avLst>
              <a:gd name="adj" fmla="val 7273"/>
            </a:avLst>
          </a:prstGeom>
          <a:solidFill>
            <a:srgbClr val="EAF2F8"/>
          </a:solidFill>
          <a:ln w="9525">
            <a:solidFill>
              <a:srgbClr val="B8CEDD"/>
            </a:solidFill>
          </a:ln>
        </p:spPr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D9E81396-3A34-48DC-8132-F4F547DA6C96}"/>
              </a:ext>
            </a:extLst>
          </p:cNvPr>
          <p:cNvSpPr>
            <a:spLocks noGrp="1"/>
          </p:cNvSpPr>
          <p:nvPr/>
        </p:nvSpPr>
        <p:spPr>
          <a:xfrm>
            <a:off x="5810250" y="4286250"/>
            <a:ext cx="54292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0">
                <a:solidFill>
                  <a:srgbClr val="1822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8222D"/>
                </a:solidFill>
                <a:latin typeface="Bitstream Charter"/>
                <a:ea typeface="Bitstream Charter"/>
                <a:cs typeface="Bitstream Charter"/>
              </a:rPr>
              <a:t>Cada conexão TCP recebe uma thread própria. A réplica primária atualiza o estado e envia a alteração para o backup.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BF60BD51-DB38-4A56-8148-F2A622FB85C7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0012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788"/>
          </a:bodyPr>
          <a:lstStyle/>
          <a:p>
            <a:pPr algn="l">
              <a:defRPr sz="825" b="0">
                <a:solidFill>
                  <a:srgbClr val="5C67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5C6770"/>
                </a:solidFill>
                <a:latin typeface="Bitstream Charter"/>
                <a:ea typeface="Bitstream Charter"/>
                <a:cs typeface="Bitstream Charter"/>
              </a:rPr>
              <a:t>Guilherme Di Fante · Programação Concorrente e Distribuída · IFSC Gaspar</a:t>
            </a:r>
          </a:p>
        </p:txBody>
      </p:sp>
    </p:spTree>
    <p:extLst>
      <p:ext uri="{BB962C8B-B14F-4D97-AF65-F5344CB8AC3E}">
        <p14:creationId xmlns:p14="http://schemas.microsoft.com/office/powerpoint/2010/main" val="142632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>
            <a:extLst>
              <a:ext uri="{FF2B5EF4-FFF2-40B4-BE49-F238E27FC236}">
                <a16:creationId xmlns:a16="http://schemas.microsoft.com/office/drawing/2014/main" id="{D249A703-0FC3-4B7F-AB0B-3E8916F3CED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2870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329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3293D"/>
                </a:solidFill>
                <a:latin typeface="Bitstream Charter"/>
                <a:ea typeface="Bitstream Charter"/>
                <a:cs typeface="Bitstream Charter"/>
              </a:rPr>
              <a:t>Protocolo de comunicação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CDE77FF-7BF8-4173-89F8-61F2C9413174}"/>
              </a:ext>
            </a:extLst>
          </p:cNvPr>
          <p:cNvSpPr>
            <a:spLocks noGrp="1"/>
          </p:cNvSpPr>
          <p:nvPr/>
        </p:nvSpPr>
        <p:spPr>
          <a:xfrm>
            <a:off x="11096625" y="457200"/>
            <a:ext cx="4762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350" b="1">
                <a:solidFill>
                  <a:srgbClr val="F28C2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28C28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BF08B62-88C2-4FDB-95C6-1717F85B87D4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0953750" cy="38100"/>
          </a:xfrm>
          <a:prstGeom prst="rect">
            <a:avLst/>
          </a:prstGeom>
          <a:solidFill>
            <a:srgbClr val="F28C28"/>
          </a:solidFill>
          <a:ln w="0">
            <a:noFill/>
          </a:ln>
        </p:spPr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49A5542-1921-4539-95F6-3CF4D265BB50}"/>
              </a:ext>
            </a:extLst>
          </p:cNvPr>
          <p:cNvSpPr>
            <a:spLocks noGrp="1"/>
          </p:cNvSpPr>
          <p:nvPr/>
        </p:nvSpPr>
        <p:spPr>
          <a:xfrm>
            <a:off x="666750" y="1476375"/>
            <a:ext cx="4000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1F4E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F4E78"/>
                </a:solidFill>
                <a:latin typeface="Bitstream Charter"/>
                <a:ea typeface="Bitstream Charter"/>
                <a:cs typeface="Bitstream Charter"/>
              </a:rPr>
              <a:t>Entrada simples do usuário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B55B3ABF-C743-4E8F-8DD3-1ADDA1E314B6}"/>
              </a:ext>
            </a:extLst>
          </p:cNvPr>
          <p:cNvSpPr>
            <a:spLocks noGrp="1"/>
          </p:cNvSpPr>
          <p:nvPr/>
        </p:nvSpPr>
        <p:spPr>
          <a:xfrm>
            <a:off x="666750" y="2000250"/>
            <a:ext cx="4381500" cy="666750"/>
          </a:xfrm>
          <a:prstGeom prst="roundRect">
            <a:avLst>
              <a:gd name="adj" fmla="val 11429"/>
            </a:avLst>
          </a:prstGeom>
          <a:solidFill>
            <a:srgbClr val="EAF2F8"/>
          </a:solidFill>
          <a:ln w="9525">
            <a:solidFill>
              <a:srgbClr val="B8CEDD"/>
            </a:solidFill>
          </a:ln>
        </p:spPr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89B1611-5A03-4E4F-AAA1-8D3A61BBC530}"/>
              </a:ext>
            </a:extLst>
          </p:cNvPr>
          <p:cNvSpPr>
            <a:spLocks noGrp="1"/>
          </p:cNvSpPr>
          <p:nvPr/>
        </p:nvSpPr>
        <p:spPr>
          <a:xfrm>
            <a:off x="904875" y="2143125"/>
            <a:ext cx="3905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1822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18222D"/>
                </a:solidFill>
                <a:latin typeface="Bitstream Charter"/>
                <a:ea typeface="Bitstream Charter"/>
                <a:cs typeface="Bitstream Charter"/>
              </a:rPr>
              <a:t>reservar 5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4FD6863F-07F2-46F5-A89E-7F863683CE15}"/>
              </a:ext>
            </a:extLst>
          </p:cNvPr>
          <p:cNvSpPr>
            <a:spLocks noGrp="1"/>
          </p:cNvSpPr>
          <p:nvPr/>
        </p:nvSpPr>
        <p:spPr>
          <a:xfrm>
            <a:off x="666750" y="3000375"/>
            <a:ext cx="4000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1F4E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F4E78"/>
                </a:solidFill>
                <a:latin typeface="Bitstream Charter"/>
                <a:ea typeface="Bitstream Charter"/>
                <a:cs typeface="Bitstream Charter"/>
              </a:rPr>
              <a:t>Conversão interna do cliente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FB1430B2-E34E-49D7-BD20-5A5179FD9FAC}"/>
              </a:ext>
            </a:extLst>
          </p:cNvPr>
          <p:cNvSpPr>
            <a:spLocks noGrp="1"/>
          </p:cNvSpPr>
          <p:nvPr/>
        </p:nvSpPr>
        <p:spPr>
          <a:xfrm>
            <a:off x="666750" y="3524250"/>
            <a:ext cx="4381500" cy="666750"/>
          </a:xfrm>
          <a:prstGeom prst="roundRect">
            <a:avLst>
              <a:gd name="adj" fmla="val 11429"/>
            </a:avLst>
          </a:prstGeom>
          <a:solidFill>
            <a:srgbClr val="13293D"/>
          </a:solidFill>
          <a:ln w="9525">
            <a:solidFill>
              <a:srgbClr val="13293D"/>
            </a:solidFill>
          </a:ln>
        </p:spPr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2B26E19-CD32-4585-99B8-66ED416E2F6E}"/>
              </a:ext>
            </a:extLst>
          </p:cNvPr>
          <p:cNvSpPr>
            <a:spLocks noGrp="1"/>
          </p:cNvSpPr>
          <p:nvPr/>
        </p:nvSpPr>
        <p:spPr>
          <a:xfrm>
            <a:off x="857250" y="3667125"/>
            <a:ext cx="4000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RESERVAR | 5 | guilherme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F9DA7D80-17C1-4495-B015-CBB1C9D86330}"/>
              </a:ext>
            </a:extLst>
          </p:cNvPr>
          <p:cNvSpPr>
            <a:spLocks noGrp="1"/>
          </p:cNvSpPr>
          <p:nvPr/>
        </p:nvSpPr>
        <p:spPr>
          <a:xfrm>
            <a:off x="5810250" y="1476375"/>
            <a:ext cx="2381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1F4E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F4E78"/>
                </a:solidFill>
                <a:latin typeface="Bitstream Charter"/>
                <a:ea typeface="Bitstream Charter"/>
                <a:cs typeface="Bitstream Charter"/>
              </a:rPr>
              <a:t>Comandos TCP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872E6C05-ADCC-42C1-8391-948E0019B4BB}"/>
              </a:ext>
            </a:extLst>
          </p:cNvPr>
          <p:cNvSpPr>
            <a:spLocks noGrp="1"/>
          </p:cNvSpPr>
          <p:nvPr/>
        </p:nvSpPr>
        <p:spPr>
          <a:xfrm>
            <a:off x="5905500" y="2000250"/>
            <a:ext cx="2190750" cy="2952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1822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18222D"/>
                </a:solidFill>
                <a:latin typeface="Bitstream Charter"/>
                <a:ea typeface="Bitstream Charter"/>
                <a:cs typeface="Bitstream Charter"/>
              </a:rPr>
              <a:t>LISTAR</a:t>
            </a:r>
          </a:p>
          <a:p>
            <a:pPr algn="l">
              <a:defRPr sz="1575" b="1">
                <a:solidFill>
                  <a:srgbClr val="1822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18222D"/>
                </a:solidFill>
                <a:latin typeface="Bitstream Charter"/>
                <a:ea typeface="Bitstream Charter"/>
                <a:cs typeface="Bitstream Charter"/>
              </a:rPr>
              <a:t>RESERVAR</a:t>
            </a:r>
          </a:p>
          <a:p>
            <a:pPr algn="l">
              <a:defRPr sz="1575" b="1">
                <a:solidFill>
                  <a:srgbClr val="1822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18222D"/>
                </a:solidFill>
                <a:latin typeface="Bitstream Charter"/>
                <a:ea typeface="Bitstream Charter"/>
                <a:cs typeface="Bitstream Charter"/>
              </a:rPr>
              <a:t>CANCELAR</a:t>
            </a:r>
          </a:p>
          <a:p>
            <a:pPr algn="l">
              <a:defRPr sz="1575" b="1">
                <a:solidFill>
                  <a:srgbClr val="1822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18222D"/>
                </a:solidFill>
                <a:latin typeface="Bitstream Charter"/>
                <a:ea typeface="Bitstream Charter"/>
                <a:cs typeface="Bitstream Charter"/>
              </a:rPr>
              <a:t>RESERVADOS</a:t>
            </a:r>
          </a:p>
          <a:p>
            <a:pPr algn="l">
              <a:defRPr sz="1575" b="1">
                <a:solidFill>
                  <a:srgbClr val="1822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18222D"/>
                </a:solidFill>
                <a:latin typeface="Bitstream Charter"/>
                <a:ea typeface="Bitstream Charter"/>
                <a:cs typeface="Bitstream Charter"/>
              </a:rPr>
              <a:t>STATUS</a:t>
            </a:r>
          </a:p>
          <a:p>
            <a:pPr algn="l">
              <a:defRPr sz="1575" b="1">
                <a:solidFill>
                  <a:srgbClr val="1822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18222D"/>
                </a:solidFill>
                <a:latin typeface="Bitstream Charter"/>
                <a:ea typeface="Bitstream Charter"/>
                <a:cs typeface="Bitstream Charter"/>
              </a:rPr>
              <a:t>SAIR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FCDB035A-B5FC-4FA3-A6EE-746CE02750FE}"/>
              </a:ext>
            </a:extLst>
          </p:cNvPr>
          <p:cNvSpPr>
            <a:spLocks noGrp="1"/>
          </p:cNvSpPr>
          <p:nvPr/>
        </p:nvSpPr>
        <p:spPr>
          <a:xfrm>
            <a:off x="8572500" y="1476375"/>
            <a:ext cx="2381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1F4E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F4E78"/>
                </a:solidFill>
                <a:latin typeface="Bitstream Charter"/>
                <a:ea typeface="Bitstream Charter"/>
                <a:cs typeface="Bitstream Charter"/>
              </a:rPr>
              <a:t>Função UDP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059F6874-44A5-411F-961F-AFACD7B4A8E7}"/>
              </a:ext>
            </a:extLst>
          </p:cNvPr>
          <p:cNvSpPr>
            <a:spLocks noGrp="1"/>
          </p:cNvSpPr>
          <p:nvPr/>
        </p:nvSpPr>
        <p:spPr>
          <a:xfrm>
            <a:off x="8572500" y="2047875"/>
            <a:ext cx="2571750" cy="1428750"/>
          </a:xfrm>
          <a:prstGeom prst="roundRect">
            <a:avLst>
              <a:gd name="adj" fmla="val 5333"/>
            </a:avLst>
          </a:prstGeom>
          <a:solidFill>
            <a:srgbClr val="F28C28"/>
          </a:solidFill>
          <a:ln w="9525">
            <a:solidFill>
              <a:srgbClr val="F28C28"/>
            </a:solidFill>
          </a:ln>
        </p:spPr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F56C6840-75F4-4FE8-987B-AE5609D6B2F0}"/>
              </a:ext>
            </a:extLst>
          </p:cNvPr>
          <p:cNvSpPr>
            <a:spLocks noGrp="1"/>
          </p:cNvSpPr>
          <p:nvPr/>
        </p:nvSpPr>
        <p:spPr>
          <a:xfrm>
            <a:off x="8858250" y="2238375"/>
            <a:ext cx="20002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STATUS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88BA3218-F8D1-40A5-818F-6001B4280432}"/>
              </a:ext>
            </a:extLst>
          </p:cNvPr>
          <p:cNvSpPr>
            <a:spLocks noGrp="1"/>
          </p:cNvSpPr>
          <p:nvPr/>
        </p:nvSpPr>
        <p:spPr>
          <a:xfrm>
            <a:off x="8858250" y="2714625"/>
            <a:ext cx="20002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561"/>
          </a:bodyPr>
          <a:lstStyle/>
          <a:p>
            <a:pPr algn="ctr">
              <a:defRPr sz="142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consulta rápida</a:t>
            </a:r>
          </a:p>
          <a:p>
            <a:pPr algn="ctr">
              <a:defRPr sz="142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do servidor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74CB7B62-D861-48B0-9829-057DE9FBC957}"/>
              </a:ext>
            </a:extLst>
          </p:cNvPr>
          <p:cNvSpPr>
            <a:spLocks noGrp="1"/>
          </p:cNvSpPr>
          <p:nvPr/>
        </p:nvSpPr>
        <p:spPr>
          <a:xfrm>
            <a:off x="8572500" y="3857625"/>
            <a:ext cx="257175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0">
                <a:solidFill>
                  <a:srgbClr val="5C67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5C6770"/>
                </a:solidFill>
                <a:latin typeface="Bitstream Charter"/>
                <a:ea typeface="Bitstream Charter"/>
                <a:cs typeface="Bitstream Charter"/>
              </a:rPr>
              <a:t>O caractere | separa os campos somente no formato interno do protocolo.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515989A7-88FF-4489-B5C4-70832254D963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0012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788"/>
          </a:bodyPr>
          <a:lstStyle/>
          <a:p>
            <a:pPr algn="l">
              <a:defRPr sz="825" b="0">
                <a:solidFill>
                  <a:srgbClr val="5C67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5C6770"/>
                </a:solidFill>
                <a:latin typeface="Bitstream Charter"/>
                <a:ea typeface="Bitstream Charter"/>
                <a:cs typeface="Bitstream Charter"/>
              </a:rPr>
              <a:t>Guilherme Di Fante · Programação Concorrente e Distribuída · IFSC Gaspar</a:t>
            </a:r>
          </a:p>
        </p:txBody>
      </p:sp>
    </p:spTree>
    <p:extLst>
      <p:ext uri="{BB962C8B-B14F-4D97-AF65-F5344CB8AC3E}">
        <p14:creationId xmlns:p14="http://schemas.microsoft.com/office/powerpoint/2010/main" val="1041208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E895D967-0A5E-4472-8160-008D5819F516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2870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329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3293D"/>
                </a:solidFill>
                <a:latin typeface="Bitstream Charter"/>
                <a:ea typeface="Bitstream Charter"/>
                <a:cs typeface="Bitstream Charter"/>
              </a:rPr>
              <a:t>Resultado dos experimentos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61BC721-F96C-4AF3-B405-4B966885FA43}"/>
              </a:ext>
            </a:extLst>
          </p:cNvPr>
          <p:cNvSpPr>
            <a:spLocks noGrp="1"/>
          </p:cNvSpPr>
          <p:nvPr/>
        </p:nvSpPr>
        <p:spPr>
          <a:xfrm>
            <a:off x="11096625" y="457200"/>
            <a:ext cx="4762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350" b="1">
                <a:solidFill>
                  <a:srgbClr val="F28C2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28C28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DEC7597-80BC-4920-8BAC-ADD6EEE988BC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0953750" cy="38100"/>
          </a:xfrm>
          <a:prstGeom prst="rect">
            <a:avLst/>
          </a:prstGeom>
          <a:solidFill>
            <a:srgbClr val="F28C28"/>
          </a:solidFill>
          <a:ln w="0">
            <a:noFill/>
          </a:ln>
        </p:spPr>
      </p:sp>
      <p:graphicFrame>
        <p:nvGraphicFramePr>
          <p:cNvPr id="16" name="Chart"/>
          <p:cNvGraphicFramePr/>
          <p:nvPr/>
        </p:nvGraphicFramePr>
        <p:xfrm>
          <a:off x="666750" y="1619250"/>
          <a:ext cx="6858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9E06F43F-0012-4565-B6DD-AA2A3E29F63C}"/>
              </a:ext>
            </a:extLst>
          </p:cNvPr>
          <p:cNvSpPr>
            <a:spLocks noGrp="1"/>
          </p:cNvSpPr>
          <p:nvPr/>
        </p:nvSpPr>
        <p:spPr>
          <a:xfrm>
            <a:off x="8001000" y="1762125"/>
            <a:ext cx="3238500" cy="1238250"/>
          </a:xfrm>
          <a:prstGeom prst="roundRect">
            <a:avLst>
              <a:gd name="adj" fmla="val 6154"/>
            </a:avLst>
          </a:prstGeom>
          <a:solidFill>
            <a:srgbClr val="FBE9E7"/>
          </a:solidFill>
          <a:ln w="9525">
            <a:solidFill>
              <a:srgbClr val="E1A3A0"/>
            </a:solidFill>
          </a:ln>
        </p:spPr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EA64F13-F037-431F-8C62-13F977B660FF}"/>
              </a:ext>
            </a:extLst>
          </p:cNvPr>
          <p:cNvSpPr>
            <a:spLocks noGrp="1"/>
          </p:cNvSpPr>
          <p:nvPr/>
        </p:nvSpPr>
        <p:spPr>
          <a:xfrm>
            <a:off x="8334375" y="1952625"/>
            <a:ext cx="25717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765"/>
          </a:bodyPr>
          <a:lstStyle/>
          <a:p>
            <a:pPr algn="ctr">
              <a:defRPr sz="2550" b="1">
                <a:solidFill>
                  <a:srgbClr val="B94A4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B94A48"/>
                </a:solidFill>
                <a:latin typeface="Bitstream Charter"/>
                <a:ea typeface="Bitstream Charter"/>
                <a:cs typeface="Bitstream Charter"/>
              </a:rPr>
              <a:t>10 de 30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043E026-D30B-45CF-AFAE-7FE36D4670D9}"/>
              </a:ext>
            </a:extLst>
          </p:cNvPr>
          <p:cNvSpPr>
            <a:spLocks noGrp="1"/>
          </p:cNvSpPr>
          <p:nvPr/>
        </p:nvSpPr>
        <p:spPr>
          <a:xfrm>
            <a:off x="8286750" y="2428875"/>
            <a:ext cx="26670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0">
                <a:solidFill>
                  <a:srgbClr val="1822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8222D"/>
                </a:solidFill>
                <a:latin typeface="Bitstream Charter"/>
                <a:ea typeface="Bitstream Charter"/>
                <a:cs typeface="Bitstream Charter"/>
              </a:rPr>
              <a:t>20 atualizações perdidas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2D221181-C754-4FCC-9E5C-C1DC8300C110}"/>
              </a:ext>
            </a:extLst>
          </p:cNvPr>
          <p:cNvSpPr>
            <a:spLocks noGrp="1"/>
          </p:cNvSpPr>
          <p:nvPr/>
        </p:nvSpPr>
        <p:spPr>
          <a:xfrm>
            <a:off x="8001000" y="3143250"/>
            <a:ext cx="3238500" cy="1238250"/>
          </a:xfrm>
          <a:prstGeom prst="roundRect">
            <a:avLst>
              <a:gd name="adj" fmla="val 6154"/>
            </a:avLst>
          </a:prstGeom>
          <a:solidFill>
            <a:srgbClr val="E8F5EE"/>
          </a:solidFill>
          <a:ln w="9525">
            <a:solidFill>
              <a:srgbClr val="9AC6AF"/>
            </a:solidFill>
          </a:ln>
        </p:spPr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B4866C27-C405-4A7D-A6ED-88D89C32EA47}"/>
              </a:ext>
            </a:extLst>
          </p:cNvPr>
          <p:cNvSpPr>
            <a:spLocks noGrp="1"/>
          </p:cNvSpPr>
          <p:nvPr/>
        </p:nvSpPr>
        <p:spPr>
          <a:xfrm>
            <a:off x="8334375" y="3333750"/>
            <a:ext cx="25717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765"/>
          </a:bodyPr>
          <a:lstStyle/>
          <a:p>
            <a:pPr algn="ctr">
              <a:defRPr sz="2550" b="1">
                <a:solidFill>
                  <a:srgbClr val="2E7D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2E7D5B"/>
                </a:solidFill>
                <a:latin typeface="Bitstream Charter"/>
                <a:ea typeface="Bitstream Charter"/>
                <a:cs typeface="Bitstream Charter"/>
              </a:rPr>
              <a:t>30 de 30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C4C69811-16CA-4B10-9207-E01795E03589}"/>
              </a:ext>
            </a:extLst>
          </p:cNvPr>
          <p:cNvSpPr>
            <a:spLocks noGrp="1"/>
          </p:cNvSpPr>
          <p:nvPr/>
        </p:nvSpPr>
        <p:spPr>
          <a:xfrm>
            <a:off x="8286750" y="3810000"/>
            <a:ext cx="26670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0">
                <a:solidFill>
                  <a:srgbClr val="1822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8222D"/>
                </a:solidFill>
                <a:latin typeface="Bitstream Charter"/>
                <a:ea typeface="Bitstream Charter"/>
                <a:cs typeface="Bitstream Charter"/>
              </a:rPr>
              <a:t>resultado consistente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92E747B0-761D-4E8A-8659-726CCBCEFDE3}"/>
              </a:ext>
            </a:extLst>
          </p:cNvPr>
          <p:cNvSpPr>
            <a:spLocks noGrp="1"/>
          </p:cNvSpPr>
          <p:nvPr/>
        </p:nvSpPr>
        <p:spPr>
          <a:xfrm>
            <a:off x="8001000" y="4762500"/>
            <a:ext cx="32385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0">
                <a:solidFill>
                  <a:srgbClr val="5C67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C6770"/>
                </a:solidFill>
                <a:latin typeface="Bitstream Charter"/>
                <a:ea typeface="Bitstream Charter"/>
                <a:cs typeface="Bitstream Charter"/>
              </a:rPr>
              <a:t>Tempo: 167 ms sem proteção · 358 ms com proteção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C0226AC-E6E6-4F63-A73C-D323D0BFE54E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0012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788"/>
          </a:bodyPr>
          <a:lstStyle/>
          <a:p>
            <a:pPr algn="l">
              <a:defRPr sz="825" b="0">
                <a:solidFill>
                  <a:srgbClr val="5C67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5C6770"/>
                </a:solidFill>
                <a:latin typeface="Bitstream Charter"/>
                <a:ea typeface="Bitstream Charter"/>
                <a:cs typeface="Bitstream Charter"/>
              </a:rPr>
              <a:t>Guilherme Di Fante · Programação Concorrente e Distribuída · IFSC Gaspar</a:t>
            </a:r>
          </a:p>
        </p:txBody>
      </p:sp>
    </p:spTree>
    <p:extLst>
      <p:ext uri="{BB962C8B-B14F-4D97-AF65-F5344CB8AC3E}">
        <p14:creationId xmlns:p14="http://schemas.microsoft.com/office/powerpoint/2010/main" val="787522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tângulo 21">
            <a:extLst>
              <a:ext uri="{FF2B5EF4-FFF2-40B4-BE49-F238E27FC236}">
                <a16:creationId xmlns:a16="http://schemas.microsoft.com/office/drawing/2014/main" id="{9B9605DA-113C-43F0-9D5B-CC31AC5CEA5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2870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329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3293D"/>
                </a:solidFill>
                <a:latin typeface="Bitstream Charter"/>
                <a:ea typeface="Bitstream Charter"/>
                <a:cs typeface="Bitstream Charter"/>
              </a:rPr>
              <a:t>Região crítica e sincronização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05296D7-4837-47F1-B539-CB5FEE188AF6}"/>
              </a:ext>
            </a:extLst>
          </p:cNvPr>
          <p:cNvSpPr>
            <a:spLocks noGrp="1"/>
          </p:cNvSpPr>
          <p:nvPr/>
        </p:nvSpPr>
        <p:spPr>
          <a:xfrm>
            <a:off x="11096625" y="457200"/>
            <a:ext cx="4762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350" b="1">
                <a:solidFill>
                  <a:srgbClr val="F28C2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28C28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7F04305-ED94-4255-BF42-D9BA10905A7D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0953750" cy="38100"/>
          </a:xfrm>
          <a:prstGeom prst="rect">
            <a:avLst/>
          </a:prstGeom>
          <a:solidFill>
            <a:srgbClr val="F28C28"/>
          </a:solidFill>
          <a:ln w="0">
            <a:noFill/>
          </a:ln>
        </p:spPr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ED9F6BE-B2C5-4439-9CE2-C5F6AA27AD24}"/>
              </a:ext>
            </a:extLst>
          </p:cNvPr>
          <p:cNvSpPr>
            <a:spLocks noGrp="1"/>
          </p:cNvSpPr>
          <p:nvPr/>
        </p:nvSpPr>
        <p:spPr>
          <a:xfrm>
            <a:off x="857250" y="1524000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436"/>
          </a:bodyPr>
          <a:lstStyle/>
          <a:p>
            <a:pPr algn="ctr">
              <a:defRPr sz="1950" b="1">
                <a:solidFill>
                  <a:srgbClr val="B94A4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B94A48"/>
                </a:solidFill>
                <a:latin typeface="Bitstream Charter"/>
                <a:ea typeface="Bitstream Charter"/>
                <a:cs typeface="Bitstream Charter"/>
              </a:rPr>
              <a:t>Sem proteção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49610BD4-9DEC-4B9B-8F6C-C074BBFBD0CD}"/>
              </a:ext>
            </a:extLst>
          </p:cNvPr>
          <p:cNvSpPr>
            <a:spLocks noGrp="1"/>
          </p:cNvSpPr>
          <p:nvPr/>
        </p:nvSpPr>
        <p:spPr>
          <a:xfrm>
            <a:off x="857250" y="2143125"/>
            <a:ext cx="2857500" cy="685800"/>
          </a:xfrm>
          <a:prstGeom prst="roundRect">
            <a:avLst>
              <a:gd name="adj" fmla="val 11111"/>
            </a:avLst>
          </a:prstGeom>
          <a:solidFill>
            <a:srgbClr val="FBE9E7"/>
          </a:solidFill>
          <a:ln w="9525">
            <a:solidFill>
              <a:srgbClr val="E1A3A0"/>
            </a:solidFill>
          </a:ln>
        </p:spPr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4619A01-FD20-4458-AA73-E76692B81889}"/>
              </a:ext>
            </a:extLst>
          </p:cNvPr>
          <p:cNvSpPr>
            <a:spLocks noGrp="1"/>
          </p:cNvSpPr>
          <p:nvPr/>
        </p:nvSpPr>
        <p:spPr>
          <a:xfrm>
            <a:off x="1047750" y="2286000"/>
            <a:ext cx="2476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1822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18222D"/>
                </a:solidFill>
                <a:latin typeface="Bitstream Charter"/>
                <a:ea typeface="Bitstream Charter"/>
                <a:cs typeface="Bitstream Charter"/>
              </a:rPr>
              <a:t>Thread 1 lê 9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FC535366-FC7C-4623-9BE7-DF91CC9C6570}"/>
              </a:ext>
            </a:extLst>
          </p:cNvPr>
          <p:cNvSpPr>
            <a:spLocks noGrp="1"/>
          </p:cNvSpPr>
          <p:nvPr/>
        </p:nvSpPr>
        <p:spPr>
          <a:xfrm>
            <a:off x="857250" y="3048000"/>
            <a:ext cx="2857500" cy="685800"/>
          </a:xfrm>
          <a:prstGeom prst="roundRect">
            <a:avLst>
              <a:gd name="adj" fmla="val 11111"/>
            </a:avLst>
          </a:prstGeom>
          <a:solidFill>
            <a:srgbClr val="FBE9E7"/>
          </a:solidFill>
          <a:ln w="9525">
            <a:solidFill>
              <a:srgbClr val="E1A3A0"/>
            </a:solidFill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0F9DCA5-E895-4CBC-B2B3-A50F4AADB445}"/>
              </a:ext>
            </a:extLst>
          </p:cNvPr>
          <p:cNvSpPr>
            <a:spLocks noGrp="1"/>
          </p:cNvSpPr>
          <p:nvPr/>
        </p:nvSpPr>
        <p:spPr>
          <a:xfrm>
            <a:off x="1047750" y="3190875"/>
            <a:ext cx="2476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1822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18222D"/>
                </a:solidFill>
                <a:latin typeface="Bitstream Charter"/>
                <a:ea typeface="Bitstream Charter"/>
                <a:cs typeface="Bitstream Charter"/>
              </a:rPr>
              <a:t>Thread 2 também lê 9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B178E295-23E9-4C4A-AC4D-6569E2703E0A}"/>
              </a:ext>
            </a:extLst>
          </p:cNvPr>
          <p:cNvSpPr>
            <a:spLocks noGrp="1"/>
          </p:cNvSpPr>
          <p:nvPr/>
        </p:nvSpPr>
        <p:spPr>
          <a:xfrm>
            <a:off x="857250" y="3952875"/>
            <a:ext cx="2857500" cy="685800"/>
          </a:xfrm>
          <a:prstGeom prst="roundRect">
            <a:avLst>
              <a:gd name="adj" fmla="val 11111"/>
            </a:avLst>
          </a:prstGeom>
          <a:solidFill>
            <a:srgbClr val="B94A48"/>
          </a:solidFill>
          <a:ln w="9525">
            <a:solidFill>
              <a:srgbClr val="B94A48"/>
            </a:solidFill>
          </a:ln>
        </p:spPr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0BF43999-DF92-4962-A460-C1ADE6D1E9A5}"/>
              </a:ext>
            </a:extLst>
          </p:cNvPr>
          <p:cNvSpPr>
            <a:spLocks noGrp="1"/>
          </p:cNvSpPr>
          <p:nvPr/>
        </p:nvSpPr>
        <p:spPr>
          <a:xfrm>
            <a:off x="1047750" y="4095750"/>
            <a:ext cx="2476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As duas gravam 10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1D996F8-26F5-4FB3-B16E-31E01F1C163E}"/>
              </a:ext>
            </a:extLst>
          </p:cNvPr>
          <p:cNvSpPr>
            <a:spLocks noGrp="1"/>
          </p:cNvSpPr>
          <p:nvPr/>
        </p:nvSpPr>
        <p:spPr>
          <a:xfrm>
            <a:off x="857250" y="4905375"/>
            <a:ext cx="28575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B94A4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B94A48"/>
                </a:solidFill>
                <a:latin typeface="Bitstream Charter"/>
                <a:ea typeface="Bitstream Charter"/>
                <a:cs typeface="Bitstream Charter"/>
              </a:rPr>
              <a:t>atualização perdida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D490D836-2588-432D-891F-56DDB76BB50C}"/>
              </a:ext>
            </a:extLst>
          </p:cNvPr>
          <p:cNvSpPr>
            <a:spLocks noGrp="1"/>
          </p:cNvSpPr>
          <p:nvPr/>
        </p:nvSpPr>
        <p:spPr>
          <a:xfrm>
            <a:off x="4857750" y="1524000"/>
            <a:ext cx="3238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436"/>
          </a:bodyPr>
          <a:lstStyle/>
          <a:p>
            <a:pPr algn="ctr">
              <a:defRPr sz="1950" b="1">
                <a:solidFill>
                  <a:srgbClr val="2E7D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2E7D5B"/>
                </a:solidFill>
                <a:latin typeface="Bitstream Charter"/>
                <a:ea typeface="Bitstream Charter"/>
                <a:cs typeface="Bitstream Charter"/>
              </a:rPr>
              <a:t>Com synchronized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8ADC06F1-C906-4B1C-863B-26A3EE75C77F}"/>
              </a:ext>
            </a:extLst>
          </p:cNvPr>
          <p:cNvSpPr>
            <a:spLocks noGrp="1"/>
          </p:cNvSpPr>
          <p:nvPr/>
        </p:nvSpPr>
        <p:spPr>
          <a:xfrm>
            <a:off x="5048250" y="2190750"/>
            <a:ext cx="2857500" cy="857250"/>
          </a:xfrm>
          <a:prstGeom prst="roundRect">
            <a:avLst>
              <a:gd name="adj" fmla="val 8889"/>
            </a:avLst>
          </a:prstGeom>
          <a:solidFill>
            <a:srgbClr val="2E7D5B"/>
          </a:solidFill>
          <a:ln w="9525">
            <a:solidFill>
              <a:srgbClr val="2E7D5B"/>
            </a:solidFill>
          </a:ln>
        </p:spPr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CFCDCBF5-4D3F-4704-9E22-51DC8B31CFC0}"/>
              </a:ext>
            </a:extLst>
          </p:cNvPr>
          <p:cNvSpPr>
            <a:spLocks noGrp="1"/>
          </p:cNvSpPr>
          <p:nvPr/>
        </p:nvSpPr>
        <p:spPr>
          <a:xfrm>
            <a:off x="5238750" y="2381250"/>
            <a:ext cx="2476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Uma thread entra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251BF66B-CFCF-4C68-B43A-22F2DDDBE254}"/>
              </a:ext>
            </a:extLst>
          </p:cNvPr>
          <p:cNvSpPr>
            <a:spLocks noGrp="1"/>
          </p:cNvSpPr>
          <p:nvPr/>
        </p:nvSpPr>
        <p:spPr>
          <a:xfrm>
            <a:off x="5048250" y="3476625"/>
            <a:ext cx="2857500" cy="857250"/>
          </a:xfrm>
          <a:prstGeom prst="roundRect">
            <a:avLst>
              <a:gd name="adj" fmla="val 8889"/>
            </a:avLst>
          </a:prstGeom>
          <a:solidFill>
            <a:srgbClr val="EAF2F8"/>
          </a:solidFill>
          <a:ln w="9525">
            <a:solidFill>
              <a:srgbClr val="9AC6AF"/>
            </a:solidFill>
          </a:ln>
        </p:spPr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4A04A520-5BF2-4FDB-9984-316412BCD8C4}"/>
              </a:ext>
            </a:extLst>
          </p:cNvPr>
          <p:cNvSpPr>
            <a:spLocks noGrp="1"/>
          </p:cNvSpPr>
          <p:nvPr/>
        </p:nvSpPr>
        <p:spPr>
          <a:xfrm>
            <a:off x="5238750" y="3667125"/>
            <a:ext cx="2476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1822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18222D"/>
                </a:solidFill>
                <a:latin typeface="Bitstream Charter"/>
                <a:ea typeface="Bitstream Charter"/>
                <a:cs typeface="Bitstream Charter"/>
              </a:rPr>
              <a:t>As outras aguardam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87C9886C-7895-4E53-BDD7-41B5C244942B}"/>
              </a:ext>
            </a:extLst>
          </p:cNvPr>
          <p:cNvSpPr>
            <a:spLocks noGrp="1"/>
          </p:cNvSpPr>
          <p:nvPr/>
        </p:nvSpPr>
        <p:spPr>
          <a:xfrm>
            <a:off x="4810125" y="4762500"/>
            <a:ext cx="33337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2E7D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2E7D5B"/>
                </a:solidFill>
                <a:latin typeface="Bitstream Charter"/>
                <a:ea typeface="Bitstream Charter"/>
                <a:cs typeface="Bitstream Charter"/>
              </a:rPr>
              <a:t>cada atualização termina antes da próxima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CF7D7DB1-6E8D-4CF3-BA5D-CC0424DD94AF}"/>
              </a:ext>
            </a:extLst>
          </p:cNvPr>
          <p:cNvSpPr>
            <a:spLocks noGrp="1"/>
          </p:cNvSpPr>
          <p:nvPr/>
        </p:nvSpPr>
        <p:spPr>
          <a:xfrm>
            <a:off x="8858250" y="2143125"/>
            <a:ext cx="2333625" cy="2476500"/>
          </a:xfrm>
          <a:prstGeom prst="roundRect">
            <a:avLst>
              <a:gd name="adj" fmla="val 3265"/>
            </a:avLst>
          </a:prstGeom>
          <a:solidFill>
            <a:srgbClr val="13293D"/>
          </a:solidFill>
          <a:ln w="9525">
            <a:solidFill>
              <a:srgbClr val="13293D"/>
            </a:solidFill>
          </a:ln>
        </p:spPr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E51B5432-4540-4410-B4AD-B0047BA15B68}"/>
              </a:ext>
            </a:extLst>
          </p:cNvPr>
          <p:cNvSpPr>
            <a:spLocks noGrp="1"/>
          </p:cNvSpPr>
          <p:nvPr/>
        </p:nvSpPr>
        <p:spPr>
          <a:xfrm>
            <a:off x="9096375" y="2381250"/>
            <a:ext cx="1857375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795"/>
          </a:bodyPr>
          <a:lstStyle/>
          <a:p>
            <a:pPr algn="ctr">
              <a:defRPr sz="19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Recurso</a:t>
            </a:r>
          </a:p>
          <a:p>
            <a:pPr algn="ctr">
              <a:defRPr sz="19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compartilhado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BC76F247-8FD8-409F-B4AF-0B386CCB9A43}"/>
              </a:ext>
            </a:extLst>
          </p:cNvPr>
          <p:cNvSpPr>
            <a:spLocks noGrp="1"/>
          </p:cNvSpPr>
          <p:nvPr/>
        </p:nvSpPr>
        <p:spPr>
          <a:xfrm>
            <a:off x="9096375" y="3286125"/>
            <a:ext cx="1857375" cy="1000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75" b="0">
                <a:solidFill>
                  <a:srgbClr val="D9E8F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D9E8F2"/>
                </a:solidFill>
                <a:latin typeface="Bitstream Charter"/>
                <a:ea typeface="Bitstream Charter"/>
                <a:cs typeface="Bitstream Charter"/>
              </a:rPr>
              <a:t>assentos</a:t>
            </a:r>
          </a:p>
          <a:p>
            <a:pPr algn="ctr">
              <a:defRPr sz="1575" b="0">
                <a:solidFill>
                  <a:srgbClr val="D9E8F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D9E8F2"/>
                </a:solidFill>
                <a:latin typeface="Bitstream Charter"/>
                <a:ea typeface="Bitstream Charter"/>
                <a:cs typeface="Bitstream Charter"/>
              </a:rPr>
              <a:t>usuários</a:t>
            </a:r>
          </a:p>
          <a:p>
            <a:pPr algn="ctr">
              <a:defRPr sz="1575" b="0">
                <a:solidFill>
                  <a:srgbClr val="D9E8F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D9E8F2"/>
                </a:solidFill>
                <a:latin typeface="Bitstream Charter"/>
                <a:ea typeface="Bitstream Charter"/>
                <a:cs typeface="Bitstream Charter"/>
              </a:rPr>
              <a:t>contador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DD9E9A7A-ECA8-460C-92ED-ABBCA09A39F4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0012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788"/>
          </a:bodyPr>
          <a:lstStyle/>
          <a:p>
            <a:pPr algn="l">
              <a:defRPr sz="825" b="0">
                <a:solidFill>
                  <a:srgbClr val="5C67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5C6770"/>
                </a:solidFill>
                <a:latin typeface="Bitstream Charter"/>
                <a:ea typeface="Bitstream Charter"/>
                <a:cs typeface="Bitstream Charter"/>
              </a:rPr>
              <a:t>Guilherme Di Fante · Programação Concorrente e Distribuída · IFSC Gaspar</a:t>
            </a:r>
          </a:p>
        </p:txBody>
      </p:sp>
    </p:spTree>
    <p:extLst>
      <p:ext uri="{BB962C8B-B14F-4D97-AF65-F5344CB8AC3E}">
        <p14:creationId xmlns:p14="http://schemas.microsoft.com/office/powerpoint/2010/main" val="958411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>
            <a:extLst>
              <a:ext uri="{FF2B5EF4-FFF2-40B4-BE49-F238E27FC236}">
                <a16:creationId xmlns:a16="http://schemas.microsoft.com/office/drawing/2014/main" id="{DF473387-4170-466F-AD86-BB2A6B067B9A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2870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329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3293D"/>
                </a:solidFill>
                <a:latin typeface="Bitstream Charter"/>
                <a:ea typeface="Bitstream Charter"/>
                <a:cs typeface="Bitstream Charter"/>
              </a:rPr>
              <a:t>Replicação e recuperação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A7077C93-ABC1-4F15-B9EF-A8780ED2726A}"/>
              </a:ext>
            </a:extLst>
          </p:cNvPr>
          <p:cNvSpPr>
            <a:spLocks noGrp="1"/>
          </p:cNvSpPr>
          <p:nvPr/>
        </p:nvSpPr>
        <p:spPr>
          <a:xfrm>
            <a:off x="11096625" y="457200"/>
            <a:ext cx="4762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350" b="1">
                <a:solidFill>
                  <a:srgbClr val="F28C2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28C28"/>
                </a:solidFill>
                <a:latin typeface="Bitstream Charter"/>
                <a:ea typeface="Bitstream Charter"/>
                <a:cs typeface="Bitstream Charter"/>
              </a:rPr>
              <a:t>07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18A23EA-510A-4C9E-9B7C-69D0344218B9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0953750" cy="38100"/>
          </a:xfrm>
          <a:prstGeom prst="rect">
            <a:avLst/>
          </a:prstGeom>
          <a:solidFill>
            <a:srgbClr val="F28C28"/>
          </a:solidFill>
          <a:ln w="0">
            <a:noFill/>
          </a:ln>
        </p:spPr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8A54D78-DEB0-4437-B68A-329F1B04F6FE}"/>
              </a:ext>
            </a:extLst>
          </p:cNvPr>
          <p:cNvSpPr>
            <a:spLocks noGrp="1"/>
          </p:cNvSpPr>
          <p:nvPr/>
        </p:nvSpPr>
        <p:spPr>
          <a:xfrm>
            <a:off x="666750" y="1476375"/>
            <a:ext cx="31432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950" b="1">
                <a:solidFill>
                  <a:srgbClr val="1F4E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1F4E78"/>
                </a:solidFill>
                <a:latin typeface="Bitstream Charter"/>
                <a:ea typeface="Bitstream Charter"/>
                <a:cs typeface="Bitstream Charter"/>
              </a:rPr>
              <a:t>Primária-backup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2647C99-E436-4823-AA8A-4E0EF29F6CBA}"/>
              </a:ext>
            </a:extLst>
          </p:cNvPr>
          <p:cNvSpPr>
            <a:spLocks noGrp="1"/>
          </p:cNvSpPr>
          <p:nvPr/>
        </p:nvSpPr>
        <p:spPr>
          <a:xfrm>
            <a:off x="666750" y="2000250"/>
            <a:ext cx="4762500" cy="1666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1822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8222D"/>
                </a:solidFill>
                <a:latin typeface="Bitstream Charter"/>
                <a:ea typeface="Bitstream Charter"/>
                <a:cs typeface="Bitstream Charter"/>
              </a:rPr>
              <a:t>A réplica A recebe as operações e copia cada alteração para B. A estratégia reduz conflitos porque uma única réplica coordena as escritas durante o funcionamento normal.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70AB368C-036A-4EED-B93C-66DD63DFC58D}"/>
              </a:ext>
            </a:extLst>
          </p:cNvPr>
          <p:cNvSpPr>
            <a:spLocks noGrp="1"/>
          </p:cNvSpPr>
          <p:nvPr/>
        </p:nvSpPr>
        <p:spPr>
          <a:xfrm>
            <a:off x="666750" y="4000500"/>
            <a:ext cx="4762500" cy="1047750"/>
          </a:xfrm>
          <a:prstGeom prst="roundRect">
            <a:avLst>
              <a:gd name="adj" fmla="val 7273"/>
            </a:avLst>
          </a:prstGeom>
          <a:solidFill>
            <a:srgbClr val="EAF2F8"/>
          </a:solidFill>
          <a:ln w="9525">
            <a:solidFill>
              <a:srgbClr val="B8CEDD"/>
            </a:solidFill>
          </a:ln>
        </p:spPr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FC6CDE1-B41C-4ABE-A1C9-4E327187800B}"/>
              </a:ext>
            </a:extLst>
          </p:cNvPr>
          <p:cNvSpPr>
            <a:spLocks noGrp="1"/>
          </p:cNvSpPr>
          <p:nvPr/>
        </p:nvSpPr>
        <p:spPr>
          <a:xfrm>
            <a:off x="952500" y="4191000"/>
            <a:ext cx="41910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1822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18222D"/>
                </a:solidFill>
                <a:latin typeface="Bitstream Charter"/>
                <a:ea typeface="Bitstream Charter"/>
                <a:cs typeface="Bitstream Charter"/>
              </a:rPr>
              <a:t>Reserva 40 em A</a:t>
            </a:r>
          </a:p>
          <a:p>
            <a:pPr algn="ctr">
              <a:defRPr sz="1650" b="1">
                <a:solidFill>
                  <a:srgbClr val="18222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18222D"/>
                </a:solidFill>
                <a:latin typeface="Bitstream Charter"/>
                <a:ea typeface="Bitstream Charter"/>
                <a:cs typeface="Bitstream Charter"/>
              </a:rPr>
              <a:t>Replicação para B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CB44994-6F90-426F-A301-4AAAA23B1289}"/>
              </a:ext>
            </a:extLst>
          </p:cNvPr>
          <p:cNvSpPr>
            <a:spLocks noGrp="1"/>
          </p:cNvSpPr>
          <p:nvPr/>
        </p:nvSpPr>
        <p:spPr>
          <a:xfrm>
            <a:off x="6477000" y="1476375"/>
            <a:ext cx="2857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950" b="1">
                <a:solidFill>
                  <a:srgbClr val="F28C2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28C28"/>
                </a:solidFill>
                <a:latin typeface="Bitstream Charter"/>
                <a:ea typeface="Bitstream Charter"/>
                <a:cs typeface="Bitstream Charter"/>
              </a:rPr>
              <a:t>Falha testada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2226A70C-88B6-4F18-A710-31B92E4E4960}"/>
              </a:ext>
            </a:extLst>
          </p:cNvPr>
          <p:cNvSpPr>
            <a:spLocks noGrp="1"/>
          </p:cNvSpPr>
          <p:nvPr/>
        </p:nvSpPr>
        <p:spPr>
          <a:xfrm>
            <a:off x="6477000" y="2095500"/>
            <a:ext cx="4572000" cy="809625"/>
          </a:xfrm>
          <a:prstGeom prst="roundRect">
            <a:avLst>
              <a:gd name="adj" fmla="val 9412"/>
            </a:avLst>
          </a:prstGeom>
          <a:solidFill>
            <a:srgbClr val="FBE9E7"/>
          </a:solidFill>
          <a:ln w="9525">
            <a:solidFill>
              <a:srgbClr val="E1A3A0"/>
            </a:solidFill>
          </a:ln>
        </p:spPr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E41C3C9E-CE17-4E2F-9482-624D0BE66960}"/>
              </a:ext>
            </a:extLst>
          </p:cNvPr>
          <p:cNvSpPr>
            <a:spLocks noGrp="1"/>
          </p:cNvSpPr>
          <p:nvPr/>
        </p:nvSpPr>
        <p:spPr>
          <a:xfrm>
            <a:off x="6762750" y="2286000"/>
            <a:ext cx="4000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B94A4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B94A48"/>
                </a:solidFill>
                <a:latin typeface="Bitstream Charter"/>
                <a:ea typeface="Bitstream Charter"/>
                <a:cs typeface="Bitstream Charter"/>
              </a:rPr>
              <a:t>Réplica A encerrada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B6C32F32-3FC5-4D76-8D8B-3EBAC385F5FF}"/>
              </a:ext>
            </a:extLst>
          </p:cNvPr>
          <p:cNvSpPr>
            <a:spLocks noGrp="1"/>
          </p:cNvSpPr>
          <p:nvPr/>
        </p:nvSpPr>
        <p:spPr>
          <a:xfrm>
            <a:off x="6477000" y="3190875"/>
            <a:ext cx="4572000" cy="952500"/>
          </a:xfrm>
          <a:prstGeom prst="roundRect">
            <a:avLst>
              <a:gd name="adj" fmla="val 8000"/>
            </a:avLst>
          </a:prstGeom>
          <a:solidFill>
            <a:srgbClr val="E8F5EE"/>
          </a:solidFill>
          <a:ln w="9525">
            <a:solidFill>
              <a:srgbClr val="9AC6AF"/>
            </a:solidFill>
          </a:ln>
        </p:spPr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B1BE4AE4-78D3-453E-A97B-C6A969EE93E8}"/>
              </a:ext>
            </a:extLst>
          </p:cNvPr>
          <p:cNvSpPr>
            <a:spLocks noGrp="1"/>
          </p:cNvSpPr>
          <p:nvPr/>
        </p:nvSpPr>
        <p:spPr>
          <a:xfrm>
            <a:off x="6762750" y="3352800"/>
            <a:ext cx="4000500" cy="628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2E7D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2E7D5B"/>
                </a:solidFill>
                <a:latin typeface="Bitstream Charter"/>
                <a:ea typeface="Bitstream Charter"/>
                <a:cs typeface="Bitstream Charter"/>
              </a:rPr>
              <a:t>Cliente reconecta em B</a:t>
            </a:r>
          </a:p>
          <a:p>
            <a:pPr algn="ctr">
              <a:defRPr sz="1650" b="1">
                <a:solidFill>
                  <a:srgbClr val="2E7D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2E7D5B"/>
                </a:solidFill>
                <a:latin typeface="Bitstream Charter"/>
                <a:ea typeface="Bitstream Charter"/>
                <a:cs typeface="Bitstream Charter"/>
              </a:rPr>
              <a:t>B assume como primária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3B76C8B3-AEE3-4F6A-A0EC-0CFD3032D3C0}"/>
              </a:ext>
            </a:extLst>
          </p:cNvPr>
          <p:cNvSpPr>
            <a:spLocks noGrp="1"/>
          </p:cNvSpPr>
          <p:nvPr/>
        </p:nvSpPr>
        <p:spPr>
          <a:xfrm>
            <a:off x="6477000" y="4429125"/>
            <a:ext cx="4572000" cy="809625"/>
          </a:xfrm>
          <a:prstGeom prst="roundRect">
            <a:avLst>
              <a:gd name="adj" fmla="val 9412"/>
            </a:avLst>
          </a:prstGeom>
          <a:solidFill>
            <a:srgbClr val="13293D"/>
          </a:solidFill>
          <a:ln w="9525">
            <a:solidFill>
              <a:srgbClr val="13293D"/>
            </a:solidFill>
          </a:ln>
        </p:spPr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A6BDF20-D900-4D6D-82E3-ED46AE6D3349}"/>
              </a:ext>
            </a:extLst>
          </p:cNvPr>
          <p:cNvSpPr>
            <a:spLocks noGrp="1"/>
          </p:cNvSpPr>
          <p:nvPr/>
        </p:nvSpPr>
        <p:spPr>
          <a:xfrm>
            <a:off x="6762750" y="4619625"/>
            <a:ext cx="4000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Reservas 40 e 41 preservadas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0981743C-B8A6-4403-952B-F3CB41F7A34D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0012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788"/>
          </a:bodyPr>
          <a:lstStyle/>
          <a:p>
            <a:pPr algn="l">
              <a:defRPr sz="825" b="0">
                <a:solidFill>
                  <a:srgbClr val="5C67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5C6770"/>
                </a:solidFill>
                <a:latin typeface="Bitstream Charter"/>
                <a:ea typeface="Bitstream Charter"/>
                <a:cs typeface="Bitstream Charter"/>
              </a:rPr>
              <a:t>Guilherme Di Fante · Programação Concorrente e Distribuída · IFSC Gaspar</a:t>
            </a:r>
          </a:p>
        </p:txBody>
      </p:sp>
    </p:spTree>
    <p:extLst>
      <p:ext uri="{BB962C8B-B14F-4D97-AF65-F5344CB8AC3E}">
        <p14:creationId xmlns:p14="http://schemas.microsoft.com/office/powerpoint/2010/main" val="134223374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671</Words>
  <Application>Microsoft Office PowerPoint</Application>
  <DocSecurity>0</DocSecurity>
  <PresentationFormat>Widescreen</PresentationFormat>
  <Paragraphs>101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0" baseType="lpstr">
      <vt:lpstr>Aptos</vt:lpstr>
      <vt:lpstr>Bitstream Charter</vt:lpstr>
      <vt:lpstr>ChatGPT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</dc:title>
  <dc:creator>Guilherme Camillo</dc:creator>
  <cp:lastModifiedBy>Guilherme Camillo</cp:lastModifiedBy>
  <cp:revision>1</cp:revision>
  <dcterms:created xsi:type="dcterms:W3CDTF">2026-09-28T19:48:59Z</dcterms:created>
  <dcterms:modified xsi:type="dcterms:W3CDTF">2026-09-28T19:53:20Z</dcterms:modified>
</cp:coreProperties>
</file>